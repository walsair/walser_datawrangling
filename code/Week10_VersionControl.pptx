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9" r:id="rId4"/>
    <p:sldId id="274" r:id="rId5"/>
    <p:sldId id="275" r:id="rId6"/>
    <p:sldId id="258" r:id="rId7"/>
    <p:sldId id="259" r:id="rId8"/>
    <p:sldId id="260" r:id="rId9"/>
    <p:sldId id="261" r:id="rId10"/>
    <p:sldId id="276" r:id="rId11"/>
    <p:sldId id="262" r:id="rId12"/>
    <p:sldId id="264" r:id="rId13"/>
    <p:sldId id="278" r:id="rId14"/>
    <p:sldId id="277" r:id="rId15"/>
    <p:sldId id="279" r:id="rId16"/>
    <p:sldId id="280" r:id="rId17"/>
    <p:sldId id="281" r:id="rId18"/>
    <p:sldId id="283" r:id="rId19"/>
    <p:sldId id="284" r:id="rId20"/>
    <p:sldId id="271" r:id="rId21"/>
    <p:sldId id="265" r:id="rId22"/>
    <p:sldId id="266" r:id="rId23"/>
    <p:sldId id="267" r:id="rId24"/>
    <p:sldId id="268" r:id="rId25"/>
    <p:sldId id="27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197"/>
  </p:normalViewPr>
  <p:slideViewPr>
    <p:cSldViewPr snapToGrid="0">
      <p:cViewPr varScale="1">
        <p:scale>
          <a:sx n="126" d="100"/>
          <a:sy n="126" d="100"/>
        </p:scale>
        <p:origin x="1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3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8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1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9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0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5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4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63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2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52154-9310-334B-A4A0-91807A345052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45981-C4EA-B84E-8595-A339344D6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44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appygitwithr.com/hello-git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happygitwithr.com/https-pa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happygitwithr.com/rstudio-git-github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happygitwithr.com/rstudio-git-github" TargetMode="Externa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appygitwithr.com/rstudio-git-github" TargetMode="Externa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happygitwithr.com/rstudio-git-github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" TargetMode="External"/><Relationship Id="rId2" Type="http://schemas.openxmlformats.org/officeDocument/2006/relationships/hyperlink" Target="https://happygitwith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81D4-82D4-560C-87B8-19CD8E2D4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090731"/>
            <a:ext cx="7772400" cy="2387600"/>
          </a:xfrm>
        </p:spPr>
        <p:txBody>
          <a:bodyPr/>
          <a:lstStyle/>
          <a:p>
            <a:r>
              <a:rPr lang="en-US" dirty="0"/>
              <a:t>Version Control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270132-ABA4-A739-1DF1-A1F376207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570406"/>
            <a:ext cx="6858000" cy="1655762"/>
          </a:xfrm>
        </p:spPr>
        <p:txBody>
          <a:bodyPr/>
          <a:lstStyle/>
          <a:p>
            <a:r>
              <a:rPr lang="en-US" dirty="0"/>
              <a:t>Using git and GitHub</a:t>
            </a:r>
          </a:p>
        </p:txBody>
      </p:sp>
      <p:pic>
        <p:nvPicPr>
          <p:cNvPr id="1032" name="Picture 8" descr="GitHub Flow, una forma ligera y eficaz para gestionar tu Software -  Software Evolutivo">
            <a:extLst>
              <a:ext uri="{FF2B5EF4-FFF2-40B4-BE49-F238E27FC236}">
                <a16:creationId xmlns:a16="http://schemas.microsoft.com/office/drawing/2014/main" id="{BD1C07A3-8D6B-D084-9703-AA04F9259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360" y="329302"/>
            <a:ext cx="5923280" cy="405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159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mage">
            <a:extLst>
              <a:ext uri="{FF2B5EF4-FFF2-40B4-BE49-F238E27FC236}">
                <a16:creationId xmlns:a16="http://schemas.microsoft.com/office/drawing/2014/main" id="{E99C40E3-AED7-934C-DA70-B1816128D5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92320" y="643466"/>
            <a:ext cx="4359359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73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F981-0B65-F68A-2ABF-B6517082C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version control?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4150B-32E8-5118-D0AE-BCC1A0DCD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Version control is system that records changes to documents, code, data, etc. through time.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allows us to take snapshots (“commit”) of our files and to revert back to previous snapshots if desired.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also allows us to work collaboratively on files by keeping track of who did what and finding any conflicts (e.g., if 2 people changed the same line of code)</a:t>
            </a:r>
          </a:p>
        </p:txBody>
      </p:sp>
    </p:spTree>
    <p:extLst>
      <p:ext uri="{BB962C8B-B14F-4D97-AF65-F5344CB8AC3E}">
        <p14:creationId xmlns:p14="http://schemas.microsoft.com/office/powerpoint/2010/main" val="404189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row of 6 cute smiling monsters celebrating using GitHub. The first, wearing a climbing harness labeled 'Me' is high-fiving another whose harness says 'Future Me'. Others hold a box of snacks that are tacos, a map, and a rope. Text above the monsters quotes Jenny Bryan: 'Collaboration is the most compelling reason to manage a project with Git and GitHub. My definition of collaboration includes hands-on participation by multiple people, including your past and future self, as well as an asymmetric model, in which some people are active makers and others only read or review.'">
            <a:extLst>
              <a:ext uri="{FF2B5EF4-FFF2-40B4-BE49-F238E27FC236}">
                <a16:creationId xmlns:a16="http://schemas.microsoft.com/office/drawing/2014/main" id="{F11AB14A-0C32-40BD-773A-DAAE7081D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ED6505-5D5B-6342-4561-B1BA21140437}"/>
              </a:ext>
            </a:extLst>
          </p:cNvPr>
          <p:cNvSpPr txBox="1"/>
          <p:nvPr/>
        </p:nvSpPr>
        <p:spPr>
          <a:xfrm>
            <a:off x="0" y="6550223"/>
            <a:ext cx="7646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Allison Horst: https://</a:t>
            </a:r>
            <a:r>
              <a:rPr lang="en-US" sz="1400" dirty="0" err="1">
                <a:solidFill>
                  <a:schemeClr val="bg2">
                    <a:lumMod val="90000"/>
                  </a:schemeClr>
                </a:solidFill>
              </a:rPr>
              <a:t>openscapes.org</a:t>
            </a: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/blog/2022-05-27-github-illustrated-series/</a:t>
            </a:r>
          </a:p>
        </p:txBody>
      </p:sp>
    </p:spTree>
    <p:extLst>
      <p:ext uri="{BB962C8B-B14F-4D97-AF65-F5344CB8AC3E}">
        <p14:creationId xmlns:p14="http://schemas.microsoft.com/office/powerpoint/2010/main" val="647064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2B86-24ED-3F56-9CBB-E403615E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C3A081-A1E9-C0E0-C9E5-779AE974E8C5}"/>
              </a:ext>
            </a:extLst>
          </p:cNvPr>
          <p:cNvSpPr txBox="1"/>
          <p:nvPr/>
        </p:nvSpPr>
        <p:spPr>
          <a:xfrm>
            <a:off x="0" y="6550223"/>
            <a:ext cx="7646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Allison Horst: https://</a:t>
            </a:r>
            <a:r>
              <a:rPr lang="en-US" sz="1400" dirty="0" err="1">
                <a:solidFill>
                  <a:schemeClr val="bg2">
                    <a:lumMod val="90000"/>
                  </a:schemeClr>
                </a:solidFill>
              </a:rPr>
              <a:t>openscapes.org</a:t>
            </a: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/blog/2022-05-27-github-illustrated-series/</a:t>
            </a:r>
          </a:p>
        </p:txBody>
      </p:sp>
      <p:pic>
        <p:nvPicPr>
          <p:cNvPr id="3" name="Picture 2" descr="A cartoon of a pink ball&#10;&#10;AI-generated content may be incorrect.">
            <a:extLst>
              <a:ext uri="{FF2B5EF4-FFF2-40B4-BE49-F238E27FC236}">
                <a16:creationId xmlns:a16="http://schemas.microsoft.com/office/drawing/2014/main" id="{99582A85-707B-A280-8752-82F1FC77A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476506"/>
            <a:ext cx="8621486" cy="558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16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OW TO GET STARTED WITH GITHUB(OPEN SOURCE)? | by Srimathi Jagadeesan |  hackgenius | Medium">
            <a:extLst>
              <a:ext uri="{FF2B5EF4-FFF2-40B4-BE49-F238E27FC236}">
                <a16:creationId xmlns:a16="http://schemas.microsoft.com/office/drawing/2014/main" id="{B5325480-4D51-CFF8-730E-69F70147E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4904" y="2929194"/>
            <a:ext cx="3557245" cy="196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72000" y="1573887"/>
            <a:ext cx="0" cy="3710227"/>
          </a:xfrm>
          <a:prstGeom prst="line">
            <a:avLst/>
          </a:prstGeom>
          <a:ln w="19050">
            <a:solidFill>
              <a:srgbClr val="F756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What is Git? An overview of Git and why you should use it | by Jatin  Varlyani | Level Up Coding">
            <a:extLst>
              <a:ext uri="{FF2B5EF4-FFF2-40B4-BE49-F238E27FC236}">
                <a16:creationId xmlns:a16="http://schemas.microsoft.com/office/drawing/2014/main" id="{F9FC5F76-1043-66DA-428E-552AE5D6D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7563" y="3117702"/>
            <a:ext cx="2636288" cy="158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762222-BBB5-A2EC-FA58-EF29E56F95E1}"/>
              </a:ext>
            </a:extLst>
          </p:cNvPr>
          <p:cNvSpPr txBox="1"/>
          <p:nvPr/>
        </p:nvSpPr>
        <p:spPr>
          <a:xfrm>
            <a:off x="896527" y="1717725"/>
            <a:ext cx="2778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LOCAL</a:t>
            </a:r>
          </a:p>
          <a:p>
            <a:pPr algn="ctr"/>
            <a:r>
              <a:rPr lang="en-US" sz="2400" dirty="0"/>
              <a:t>(your computer)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B5BB1-23AD-8AEC-2726-7D236043D9A8}"/>
              </a:ext>
            </a:extLst>
          </p:cNvPr>
          <p:cNvSpPr txBox="1"/>
          <p:nvPr/>
        </p:nvSpPr>
        <p:spPr>
          <a:xfrm>
            <a:off x="5374347" y="1717724"/>
            <a:ext cx="2778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REMOTE</a:t>
            </a:r>
          </a:p>
          <a:p>
            <a:pPr algn="ctr"/>
            <a:r>
              <a:rPr lang="en-US" sz="2400" dirty="0"/>
              <a:t>(on the Cloud)</a:t>
            </a:r>
          </a:p>
        </p:txBody>
      </p:sp>
    </p:spTree>
    <p:extLst>
      <p:ext uri="{BB962C8B-B14F-4D97-AF65-F5344CB8AC3E}">
        <p14:creationId xmlns:p14="http://schemas.microsoft.com/office/powerpoint/2010/main" val="403688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415C06C7-4742-8879-5D1F-4C91CB3CD5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9483" y="217023"/>
            <a:ext cx="6830804" cy="642395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6DAA2BC-B652-6093-B019-8FB15C902F27}"/>
              </a:ext>
            </a:extLst>
          </p:cNvPr>
          <p:cNvSpPr txBox="1"/>
          <p:nvPr/>
        </p:nvSpPr>
        <p:spPr>
          <a:xfrm>
            <a:off x="3276277" y="333208"/>
            <a:ext cx="2405339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700" dirty="0"/>
              <a:t>Remote Repo (GitHub)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FFB119-D2AC-205D-1471-5A045A3A411B}"/>
              </a:ext>
            </a:extLst>
          </p:cNvPr>
          <p:cNvSpPr txBox="1"/>
          <p:nvPr/>
        </p:nvSpPr>
        <p:spPr>
          <a:xfrm>
            <a:off x="3214815" y="6182725"/>
            <a:ext cx="2680139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Local Repos (git)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94CDDA-484D-720E-58C2-B2BC155282D3}"/>
              </a:ext>
            </a:extLst>
          </p:cNvPr>
          <p:cNvSpPr txBox="1"/>
          <p:nvPr/>
        </p:nvSpPr>
        <p:spPr>
          <a:xfrm rot="18785027">
            <a:off x="2767379" y="306007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1D882-76C5-6F26-7B8D-2EDDC4C1A3ED}"/>
              </a:ext>
            </a:extLst>
          </p:cNvPr>
          <p:cNvSpPr txBox="1"/>
          <p:nvPr/>
        </p:nvSpPr>
        <p:spPr>
          <a:xfrm rot="18854507">
            <a:off x="1900277" y="2923886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push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F95B33-64C9-6C29-AD26-E115C816EA40}"/>
              </a:ext>
            </a:extLst>
          </p:cNvPr>
          <p:cNvSpPr txBox="1"/>
          <p:nvPr/>
        </p:nvSpPr>
        <p:spPr>
          <a:xfrm rot="2741084">
            <a:off x="4668829" y="316239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75174E-BD35-EED7-EEAE-FE632DD73A21}"/>
              </a:ext>
            </a:extLst>
          </p:cNvPr>
          <p:cNvSpPr txBox="1"/>
          <p:nvPr/>
        </p:nvSpPr>
        <p:spPr>
          <a:xfrm rot="2601328">
            <a:off x="5444165" y="294639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push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A7A05B-FAEA-F8F4-43B9-7BCC0F8C7935}"/>
              </a:ext>
            </a:extLst>
          </p:cNvPr>
          <p:cNvGrpSpPr/>
          <p:nvPr/>
        </p:nvGrpSpPr>
        <p:grpSpPr>
          <a:xfrm>
            <a:off x="1948777" y="4561326"/>
            <a:ext cx="1348049" cy="545979"/>
            <a:chOff x="1261925" y="2663404"/>
            <a:chExt cx="1348049" cy="54597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7D39BF-3D2E-7C13-4D51-7021D4CA321D}"/>
                </a:ext>
              </a:extLst>
            </p:cNvPr>
            <p:cNvSpPr txBox="1"/>
            <p:nvPr/>
          </p:nvSpPr>
          <p:spPr>
            <a:xfrm>
              <a:off x="1792471" y="2778642"/>
              <a:ext cx="817503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commit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D17BED-1723-5DE7-1CCD-3766B9575B2E}"/>
                </a:ext>
              </a:extLst>
            </p:cNvPr>
            <p:cNvSpPr txBox="1"/>
            <p:nvPr/>
          </p:nvSpPr>
          <p:spPr>
            <a:xfrm>
              <a:off x="1261925" y="2778643"/>
              <a:ext cx="538756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</a:t>
              </a:r>
            </a:p>
          </p:txBody>
        </p:sp>
        <p:sp>
          <p:nvSpPr>
            <p:cNvPr id="31" name="Curved Right Arrow 30">
              <a:extLst>
                <a:ext uri="{FF2B5EF4-FFF2-40B4-BE49-F238E27FC236}">
                  <a16:creationId xmlns:a16="http://schemas.microsoft.com/office/drawing/2014/main" id="{1A081029-459C-EA35-2366-D9958DD90212}"/>
                </a:ext>
              </a:extLst>
            </p:cNvPr>
            <p:cNvSpPr/>
            <p:nvPr/>
          </p:nvSpPr>
          <p:spPr>
            <a:xfrm rot="16200000">
              <a:off x="1846266" y="2841349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Curved Right Arrow 31">
              <a:extLst>
                <a:ext uri="{FF2B5EF4-FFF2-40B4-BE49-F238E27FC236}">
                  <a16:creationId xmlns:a16="http://schemas.microsoft.com/office/drawing/2014/main" id="{C5C6450A-34D3-7009-816A-CB5B4D02C8AC}"/>
                </a:ext>
              </a:extLst>
            </p:cNvPr>
            <p:cNvSpPr/>
            <p:nvPr/>
          </p:nvSpPr>
          <p:spPr>
            <a:xfrm rot="5400000">
              <a:off x="1829993" y="2444927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B06D5F6-C637-CBB4-3041-035B38096283}"/>
              </a:ext>
            </a:extLst>
          </p:cNvPr>
          <p:cNvGrpSpPr/>
          <p:nvPr/>
        </p:nvGrpSpPr>
        <p:grpSpPr>
          <a:xfrm>
            <a:off x="5791205" y="4561750"/>
            <a:ext cx="1301965" cy="545979"/>
            <a:chOff x="1261925" y="2663404"/>
            <a:chExt cx="1301965" cy="54597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6CC938-A42A-C7A8-8024-DC8B85659C89}"/>
                </a:ext>
              </a:extLst>
            </p:cNvPr>
            <p:cNvSpPr txBox="1"/>
            <p:nvPr/>
          </p:nvSpPr>
          <p:spPr>
            <a:xfrm>
              <a:off x="1792472" y="2778642"/>
              <a:ext cx="771418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commit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2D6005C-2C94-2D66-89B7-C7C2216177AB}"/>
                </a:ext>
              </a:extLst>
            </p:cNvPr>
            <p:cNvSpPr txBox="1"/>
            <p:nvPr/>
          </p:nvSpPr>
          <p:spPr>
            <a:xfrm>
              <a:off x="1261925" y="2778643"/>
              <a:ext cx="538756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</a:t>
              </a:r>
            </a:p>
          </p:txBody>
        </p:sp>
        <p:sp>
          <p:nvSpPr>
            <p:cNvPr id="36" name="Curved Right Arrow 35">
              <a:extLst>
                <a:ext uri="{FF2B5EF4-FFF2-40B4-BE49-F238E27FC236}">
                  <a16:creationId xmlns:a16="http://schemas.microsoft.com/office/drawing/2014/main" id="{343AD7BA-1A23-49B5-E58A-D14C41CAD767}"/>
                </a:ext>
              </a:extLst>
            </p:cNvPr>
            <p:cNvSpPr/>
            <p:nvPr/>
          </p:nvSpPr>
          <p:spPr>
            <a:xfrm rot="16200000">
              <a:off x="1846266" y="2841349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Curved Right Arrow 36">
              <a:extLst>
                <a:ext uri="{FF2B5EF4-FFF2-40B4-BE49-F238E27FC236}">
                  <a16:creationId xmlns:a16="http://schemas.microsoft.com/office/drawing/2014/main" id="{C1DFFACE-3A0D-FB6D-AD24-B5A35A659C30}"/>
                </a:ext>
              </a:extLst>
            </p:cNvPr>
            <p:cNvSpPr/>
            <p:nvPr/>
          </p:nvSpPr>
          <p:spPr>
            <a:xfrm rot="5400000">
              <a:off x="1829993" y="2444927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E7D1E31D-B893-8361-D190-674D0E66E72F}"/>
              </a:ext>
            </a:extLst>
          </p:cNvPr>
          <p:cNvSpPr/>
          <p:nvPr/>
        </p:nvSpPr>
        <p:spPr>
          <a:xfrm>
            <a:off x="1253924" y="196004"/>
            <a:ext cx="6747181" cy="3854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2646C5-677D-86AC-12BF-7619D648EBB1}"/>
              </a:ext>
            </a:extLst>
          </p:cNvPr>
          <p:cNvSpPr/>
          <p:nvPr/>
        </p:nvSpPr>
        <p:spPr>
          <a:xfrm>
            <a:off x="5110254" y="4126182"/>
            <a:ext cx="2680139" cy="2036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3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415C06C7-4742-8879-5D1F-4C91CB3CD5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9483" y="217023"/>
            <a:ext cx="6830804" cy="642395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6DAA2BC-B652-6093-B019-8FB15C902F27}"/>
              </a:ext>
            </a:extLst>
          </p:cNvPr>
          <p:cNvSpPr txBox="1"/>
          <p:nvPr/>
        </p:nvSpPr>
        <p:spPr>
          <a:xfrm>
            <a:off x="3276277" y="333208"/>
            <a:ext cx="2405339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700" dirty="0"/>
              <a:t>Remote Repo (GitHub)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94CDDA-484D-720E-58C2-B2BC155282D3}"/>
              </a:ext>
            </a:extLst>
          </p:cNvPr>
          <p:cNvSpPr txBox="1"/>
          <p:nvPr/>
        </p:nvSpPr>
        <p:spPr>
          <a:xfrm rot="18785027">
            <a:off x="2767379" y="306007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1D882-76C5-6F26-7B8D-2EDDC4C1A3ED}"/>
              </a:ext>
            </a:extLst>
          </p:cNvPr>
          <p:cNvSpPr txBox="1"/>
          <p:nvPr/>
        </p:nvSpPr>
        <p:spPr>
          <a:xfrm rot="18854507">
            <a:off x="1900277" y="2923886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push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F95B33-64C9-6C29-AD26-E115C816EA40}"/>
              </a:ext>
            </a:extLst>
          </p:cNvPr>
          <p:cNvSpPr txBox="1"/>
          <p:nvPr/>
        </p:nvSpPr>
        <p:spPr>
          <a:xfrm rot="2741084">
            <a:off x="4668829" y="316239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75174E-BD35-EED7-EEAE-FE632DD73A21}"/>
              </a:ext>
            </a:extLst>
          </p:cNvPr>
          <p:cNvSpPr txBox="1"/>
          <p:nvPr/>
        </p:nvSpPr>
        <p:spPr>
          <a:xfrm rot="2601328">
            <a:off x="5444165" y="294639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push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A7A05B-FAEA-F8F4-43B9-7BCC0F8C7935}"/>
              </a:ext>
            </a:extLst>
          </p:cNvPr>
          <p:cNvGrpSpPr/>
          <p:nvPr/>
        </p:nvGrpSpPr>
        <p:grpSpPr>
          <a:xfrm>
            <a:off x="1948777" y="4561326"/>
            <a:ext cx="1348049" cy="545979"/>
            <a:chOff x="1261925" y="2663404"/>
            <a:chExt cx="1348049" cy="54597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7D39BF-3D2E-7C13-4D51-7021D4CA321D}"/>
                </a:ext>
              </a:extLst>
            </p:cNvPr>
            <p:cNvSpPr txBox="1"/>
            <p:nvPr/>
          </p:nvSpPr>
          <p:spPr>
            <a:xfrm>
              <a:off x="1792471" y="2778642"/>
              <a:ext cx="817503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commit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D17BED-1723-5DE7-1CCD-3766B9575B2E}"/>
                </a:ext>
              </a:extLst>
            </p:cNvPr>
            <p:cNvSpPr txBox="1"/>
            <p:nvPr/>
          </p:nvSpPr>
          <p:spPr>
            <a:xfrm>
              <a:off x="1261925" y="2778643"/>
              <a:ext cx="538756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</a:t>
              </a:r>
            </a:p>
          </p:txBody>
        </p:sp>
        <p:sp>
          <p:nvSpPr>
            <p:cNvPr id="31" name="Curved Right Arrow 30">
              <a:extLst>
                <a:ext uri="{FF2B5EF4-FFF2-40B4-BE49-F238E27FC236}">
                  <a16:creationId xmlns:a16="http://schemas.microsoft.com/office/drawing/2014/main" id="{1A081029-459C-EA35-2366-D9958DD90212}"/>
                </a:ext>
              </a:extLst>
            </p:cNvPr>
            <p:cNvSpPr/>
            <p:nvPr/>
          </p:nvSpPr>
          <p:spPr>
            <a:xfrm rot="16200000">
              <a:off x="1846266" y="2841349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Curved Right Arrow 31">
              <a:extLst>
                <a:ext uri="{FF2B5EF4-FFF2-40B4-BE49-F238E27FC236}">
                  <a16:creationId xmlns:a16="http://schemas.microsoft.com/office/drawing/2014/main" id="{C5C6450A-34D3-7009-816A-CB5B4D02C8AC}"/>
                </a:ext>
              </a:extLst>
            </p:cNvPr>
            <p:cNvSpPr/>
            <p:nvPr/>
          </p:nvSpPr>
          <p:spPr>
            <a:xfrm rot="5400000">
              <a:off x="1829993" y="2444927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B06D5F6-C637-CBB4-3041-035B38096283}"/>
              </a:ext>
            </a:extLst>
          </p:cNvPr>
          <p:cNvGrpSpPr/>
          <p:nvPr/>
        </p:nvGrpSpPr>
        <p:grpSpPr>
          <a:xfrm>
            <a:off x="5791205" y="4561750"/>
            <a:ext cx="1301965" cy="545979"/>
            <a:chOff x="1261925" y="2663404"/>
            <a:chExt cx="1301965" cy="54597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6CC938-A42A-C7A8-8024-DC8B85659C89}"/>
                </a:ext>
              </a:extLst>
            </p:cNvPr>
            <p:cNvSpPr txBox="1"/>
            <p:nvPr/>
          </p:nvSpPr>
          <p:spPr>
            <a:xfrm>
              <a:off x="1792472" y="2778642"/>
              <a:ext cx="771418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commit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2D6005C-2C94-2D66-89B7-C7C2216177AB}"/>
                </a:ext>
              </a:extLst>
            </p:cNvPr>
            <p:cNvSpPr txBox="1"/>
            <p:nvPr/>
          </p:nvSpPr>
          <p:spPr>
            <a:xfrm>
              <a:off x="1261925" y="2778643"/>
              <a:ext cx="538756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</a:t>
              </a:r>
            </a:p>
          </p:txBody>
        </p:sp>
        <p:sp>
          <p:nvSpPr>
            <p:cNvPr id="36" name="Curved Right Arrow 35">
              <a:extLst>
                <a:ext uri="{FF2B5EF4-FFF2-40B4-BE49-F238E27FC236}">
                  <a16:creationId xmlns:a16="http://schemas.microsoft.com/office/drawing/2014/main" id="{343AD7BA-1A23-49B5-E58A-D14C41CAD767}"/>
                </a:ext>
              </a:extLst>
            </p:cNvPr>
            <p:cNvSpPr/>
            <p:nvPr/>
          </p:nvSpPr>
          <p:spPr>
            <a:xfrm rot="16200000">
              <a:off x="1846266" y="2841349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Curved Right Arrow 36">
              <a:extLst>
                <a:ext uri="{FF2B5EF4-FFF2-40B4-BE49-F238E27FC236}">
                  <a16:creationId xmlns:a16="http://schemas.microsoft.com/office/drawing/2014/main" id="{C1DFFACE-3A0D-FB6D-AD24-B5A35A659C30}"/>
                </a:ext>
              </a:extLst>
            </p:cNvPr>
            <p:cNvSpPr/>
            <p:nvPr/>
          </p:nvSpPr>
          <p:spPr>
            <a:xfrm rot="5400000">
              <a:off x="1829993" y="2444927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AA2646C5-677D-86AC-12BF-7619D648EBB1}"/>
              </a:ext>
            </a:extLst>
          </p:cNvPr>
          <p:cNvSpPr/>
          <p:nvPr/>
        </p:nvSpPr>
        <p:spPr>
          <a:xfrm>
            <a:off x="5110254" y="4126182"/>
            <a:ext cx="2680139" cy="2036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DF859E-1B2D-9996-9268-C33AEF88F22F}"/>
              </a:ext>
            </a:extLst>
          </p:cNvPr>
          <p:cNvSpPr/>
          <p:nvPr/>
        </p:nvSpPr>
        <p:spPr>
          <a:xfrm rot="18714292">
            <a:off x="2291766" y="3058689"/>
            <a:ext cx="2269103" cy="164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DC198A-3312-144E-B095-DEC4F2A3FC89}"/>
              </a:ext>
            </a:extLst>
          </p:cNvPr>
          <p:cNvSpPr/>
          <p:nvPr/>
        </p:nvSpPr>
        <p:spPr>
          <a:xfrm rot="18714292">
            <a:off x="3199192" y="2874178"/>
            <a:ext cx="1495283" cy="459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5D43FD-DA12-5505-46CA-607196E2F477}"/>
              </a:ext>
            </a:extLst>
          </p:cNvPr>
          <p:cNvSpPr/>
          <p:nvPr/>
        </p:nvSpPr>
        <p:spPr>
          <a:xfrm>
            <a:off x="4617213" y="2287115"/>
            <a:ext cx="3488975" cy="1657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B3551-EE20-1450-648C-9096BD1621F8}"/>
              </a:ext>
            </a:extLst>
          </p:cNvPr>
          <p:cNvSpPr txBox="1"/>
          <p:nvPr/>
        </p:nvSpPr>
        <p:spPr>
          <a:xfrm>
            <a:off x="3214815" y="6182725"/>
            <a:ext cx="2680139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Local Repos (git)</a:t>
            </a:r>
          </a:p>
        </p:txBody>
      </p:sp>
    </p:spTree>
    <p:extLst>
      <p:ext uri="{BB962C8B-B14F-4D97-AF65-F5344CB8AC3E}">
        <p14:creationId xmlns:p14="http://schemas.microsoft.com/office/powerpoint/2010/main" val="1886555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17E898B-BC89-79C6-A173-4B9902EB9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9483" y="217023"/>
            <a:ext cx="6830804" cy="6423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AC8869-A944-EE31-7F73-5DABAC31BA5E}"/>
              </a:ext>
            </a:extLst>
          </p:cNvPr>
          <p:cNvSpPr txBox="1"/>
          <p:nvPr/>
        </p:nvSpPr>
        <p:spPr>
          <a:xfrm>
            <a:off x="3276277" y="333208"/>
            <a:ext cx="2405339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700" dirty="0"/>
              <a:t>Remote Repo (GitHub)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B48C8-1068-F927-A401-1DC9BEA032F1}"/>
              </a:ext>
            </a:extLst>
          </p:cNvPr>
          <p:cNvSpPr txBox="1"/>
          <p:nvPr/>
        </p:nvSpPr>
        <p:spPr>
          <a:xfrm rot="18854507">
            <a:off x="1900277" y="2923886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29CEC-7D05-E40C-C807-D7C39462AC6B}"/>
              </a:ext>
            </a:extLst>
          </p:cNvPr>
          <p:cNvSpPr txBox="1"/>
          <p:nvPr/>
        </p:nvSpPr>
        <p:spPr>
          <a:xfrm rot="2741084">
            <a:off x="4668829" y="316239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13E90-E449-91DE-180B-C7A5BA175FAF}"/>
              </a:ext>
            </a:extLst>
          </p:cNvPr>
          <p:cNvSpPr txBox="1"/>
          <p:nvPr/>
        </p:nvSpPr>
        <p:spPr>
          <a:xfrm rot="2601328">
            <a:off x="5444165" y="294639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push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B02C035-BC76-7534-9BE8-D9268ED65C14}"/>
              </a:ext>
            </a:extLst>
          </p:cNvPr>
          <p:cNvGrpSpPr/>
          <p:nvPr/>
        </p:nvGrpSpPr>
        <p:grpSpPr>
          <a:xfrm>
            <a:off x="1948777" y="4561326"/>
            <a:ext cx="1348049" cy="545979"/>
            <a:chOff x="1261925" y="2663404"/>
            <a:chExt cx="1348049" cy="5459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E9C8C5-14F1-D1F6-3334-98840D774A02}"/>
                </a:ext>
              </a:extLst>
            </p:cNvPr>
            <p:cNvSpPr txBox="1"/>
            <p:nvPr/>
          </p:nvSpPr>
          <p:spPr>
            <a:xfrm>
              <a:off x="1792471" y="2778642"/>
              <a:ext cx="817503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commit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BDAE8C-8DCF-7477-A0C4-AD897C5DDE5A}"/>
                </a:ext>
              </a:extLst>
            </p:cNvPr>
            <p:cNvSpPr txBox="1"/>
            <p:nvPr/>
          </p:nvSpPr>
          <p:spPr>
            <a:xfrm>
              <a:off x="1261925" y="2778643"/>
              <a:ext cx="538756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</a:t>
              </a:r>
            </a:p>
          </p:txBody>
        </p:sp>
        <p:sp>
          <p:nvSpPr>
            <p:cNvPr id="12" name="Curved Right Arrow 11">
              <a:extLst>
                <a:ext uri="{FF2B5EF4-FFF2-40B4-BE49-F238E27FC236}">
                  <a16:creationId xmlns:a16="http://schemas.microsoft.com/office/drawing/2014/main" id="{6FA7CE35-05B3-FD15-75E1-8A5802110964}"/>
                </a:ext>
              </a:extLst>
            </p:cNvPr>
            <p:cNvSpPr/>
            <p:nvPr/>
          </p:nvSpPr>
          <p:spPr>
            <a:xfrm rot="16200000">
              <a:off x="1846266" y="2841349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Curved Right Arrow 12">
              <a:extLst>
                <a:ext uri="{FF2B5EF4-FFF2-40B4-BE49-F238E27FC236}">
                  <a16:creationId xmlns:a16="http://schemas.microsoft.com/office/drawing/2014/main" id="{395DDFF1-32D4-0733-11CE-E0D70EB6F54A}"/>
                </a:ext>
              </a:extLst>
            </p:cNvPr>
            <p:cNvSpPr/>
            <p:nvPr/>
          </p:nvSpPr>
          <p:spPr>
            <a:xfrm rot="5400000">
              <a:off x="1829993" y="2444927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E39F03-51B4-B9F2-406B-3936D84BEE43}"/>
              </a:ext>
            </a:extLst>
          </p:cNvPr>
          <p:cNvGrpSpPr/>
          <p:nvPr/>
        </p:nvGrpSpPr>
        <p:grpSpPr>
          <a:xfrm>
            <a:off x="5791205" y="4561750"/>
            <a:ext cx="1301965" cy="545979"/>
            <a:chOff x="1261925" y="2663404"/>
            <a:chExt cx="1301965" cy="54597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CD8DF6F-B2EE-2867-D714-45B0A6D45238}"/>
                </a:ext>
              </a:extLst>
            </p:cNvPr>
            <p:cNvSpPr txBox="1"/>
            <p:nvPr/>
          </p:nvSpPr>
          <p:spPr>
            <a:xfrm>
              <a:off x="1792472" y="2778642"/>
              <a:ext cx="771418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commit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80CDA1-EC2E-62F5-E7A1-7F8FFF26CCEC}"/>
                </a:ext>
              </a:extLst>
            </p:cNvPr>
            <p:cNvSpPr txBox="1"/>
            <p:nvPr/>
          </p:nvSpPr>
          <p:spPr>
            <a:xfrm>
              <a:off x="1261925" y="2778643"/>
              <a:ext cx="538756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</a:t>
              </a:r>
            </a:p>
          </p:txBody>
        </p:sp>
        <p:sp>
          <p:nvSpPr>
            <p:cNvPr id="17" name="Curved Right Arrow 16">
              <a:extLst>
                <a:ext uri="{FF2B5EF4-FFF2-40B4-BE49-F238E27FC236}">
                  <a16:creationId xmlns:a16="http://schemas.microsoft.com/office/drawing/2014/main" id="{763C1B5B-FEC3-C7D0-0269-FF6F8D68F8F8}"/>
                </a:ext>
              </a:extLst>
            </p:cNvPr>
            <p:cNvSpPr/>
            <p:nvPr/>
          </p:nvSpPr>
          <p:spPr>
            <a:xfrm rot="16200000">
              <a:off x="1846266" y="2841349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Curved Right Arrow 17">
              <a:extLst>
                <a:ext uri="{FF2B5EF4-FFF2-40B4-BE49-F238E27FC236}">
                  <a16:creationId xmlns:a16="http://schemas.microsoft.com/office/drawing/2014/main" id="{2AE1E707-2B0F-D44A-DDA8-5BBF98FBE89C}"/>
                </a:ext>
              </a:extLst>
            </p:cNvPr>
            <p:cNvSpPr/>
            <p:nvPr/>
          </p:nvSpPr>
          <p:spPr>
            <a:xfrm rot="5400000">
              <a:off x="1829993" y="2444927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A227A41-1A73-036B-593B-D62D7F1E1AF5}"/>
              </a:ext>
            </a:extLst>
          </p:cNvPr>
          <p:cNvSpPr txBox="1"/>
          <p:nvPr/>
        </p:nvSpPr>
        <p:spPr>
          <a:xfrm>
            <a:off x="3214815" y="6182725"/>
            <a:ext cx="2680139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Local Repos (git)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CC579D-3B1E-43F2-0F30-3ABAF5EC6070}"/>
              </a:ext>
            </a:extLst>
          </p:cNvPr>
          <p:cNvSpPr/>
          <p:nvPr/>
        </p:nvSpPr>
        <p:spPr>
          <a:xfrm rot="18714292">
            <a:off x="2818336" y="3132880"/>
            <a:ext cx="1495283" cy="223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pull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52D661-D532-1378-9D0E-E0E2DAD98A3B}"/>
              </a:ext>
            </a:extLst>
          </p:cNvPr>
          <p:cNvSpPr/>
          <p:nvPr/>
        </p:nvSpPr>
        <p:spPr>
          <a:xfrm rot="18714292">
            <a:off x="2291766" y="3058689"/>
            <a:ext cx="2269103" cy="164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FECA97-F002-85E1-8C7F-59B2ED53B1CE}"/>
              </a:ext>
            </a:extLst>
          </p:cNvPr>
          <p:cNvSpPr/>
          <p:nvPr/>
        </p:nvSpPr>
        <p:spPr>
          <a:xfrm>
            <a:off x="5894954" y="4481565"/>
            <a:ext cx="1171401" cy="673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pull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8E3ABD-582C-BE7A-D8C0-581A0048558A}"/>
              </a:ext>
            </a:extLst>
          </p:cNvPr>
          <p:cNvSpPr/>
          <p:nvPr/>
        </p:nvSpPr>
        <p:spPr>
          <a:xfrm rot="2720520" flipV="1">
            <a:off x="4927137" y="3043713"/>
            <a:ext cx="2269103" cy="249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4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17B6E-3B05-5E70-C475-9EB979F9E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59412DF-6895-3314-E451-0712DA3409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9483" y="217023"/>
            <a:ext cx="6830804" cy="6423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8E9530-796C-64D7-ABDC-42D963E6332F}"/>
              </a:ext>
            </a:extLst>
          </p:cNvPr>
          <p:cNvSpPr txBox="1"/>
          <p:nvPr/>
        </p:nvSpPr>
        <p:spPr>
          <a:xfrm>
            <a:off x="3276277" y="333208"/>
            <a:ext cx="2405339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700" dirty="0"/>
              <a:t>Remote Repo (GitHub)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C00FD-D604-3C13-BE58-231D836FD149}"/>
              </a:ext>
            </a:extLst>
          </p:cNvPr>
          <p:cNvSpPr txBox="1"/>
          <p:nvPr/>
        </p:nvSpPr>
        <p:spPr>
          <a:xfrm rot="18854507">
            <a:off x="1900277" y="2923886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6D4A1-5A41-9ABF-6E96-4F4CFDB272B0}"/>
              </a:ext>
            </a:extLst>
          </p:cNvPr>
          <p:cNvSpPr txBox="1"/>
          <p:nvPr/>
        </p:nvSpPr>
        <p:spPr>
          <a:xfrm rot="2741084">
            <a:off x="4668829" y="316239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404B39-55F8-8B8F-0EB2-5AA5AB8372B0}"/>
              </a:ext>
            </a:extLst>
          </p:cNvPr>
          <p:cNvSpPr txBox="1"/>
          <p:nvPr/>
        </p:nvSpPr>
        <p:spPr>
          <a:xfrm rot="2601328">
            <a:off x="5444165" y="294639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push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E40D6A2-2FD2-BEC3-CA78-8549CA73B13B}"/>
              </a:ext>
            </a:extLst>
          </p:cNvPr>
          <p:cNvGrpSpPr/>
          <p:nvPr/>
        </p:nvGrpSpPr>
        <p:grpSpPr>
          <a:xfrm>
            <a:off x="1948777" y="4561326"/>
            <a:ext cx="1348049" cy="545979"/>
            <a:chOff x="1261925" y="2663404"/>
            <a:chExt cx="1348049" cy="5459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3315B6-F2C7-004A-40E9-FCAB895289E8}"/>
                </a:ext>
              </a:extLst>
            </p:cNvPr>
            <p:cNvSpPr txBox="1"/>
            <p:nvPr/>
          </p:nvSpPr>
          <p:spPr>
            <a:xfrm>
              <a:off x="1792471" y="2778642"/>
              <a:ext cx="817503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commit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76CE307-49FD-6E5A-8C95-F7A677A3B47E}"/>
                </a:ext>
              </a:extLst>
            </p:cNvPr>
            <p:cNvSpPr txBox="1"/>
            <p:nvPr/>
          </p:nvSpPr>
          <p:spPr>
            <a:xfrm>
              <a:off x="1261925" y="2778643"/>
              <a:ext cx="538756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</a:t>
              </a:r>
            </a:p>
          </p:txBody>
        </p:sp>
        <p:sp>
          <p:nvSpPr>
            <p:cNvPr id="12" name="Curved Right Arrow 11">
              <a:extLst>
                <a:ext uri="{FF2B5EF4-FFF2-40B4-BE49-F238E27FC236}">
                  <a16:creationId xmlns:a16="http://schemas.microsoft.com/office/drawing/2014/main" id="{7AAF9278-4F24-3E6A-E601-FE52F3D92221}"/>
                </a:ext>
              </a:extLst>
            </p:cNvPr>
            <p:cNvSpPr/>
            <p:nvPr/>
          </p:nvSpPr>
          <p:spPr>
            <a:xfrm rot="16200000">
              <a:off x="1846266" y="2841349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Curved Right Arrow 12">
              <a:extLst>
                <a:ext uri="{FF2B5EF4-FFF2-40B4-BE49-F238E27FC236}">
                  <a16:creationId xmlns:a16="http://schemas.microsoft.com/office/drawing/2014/main" id="{1BB690EF-9B97-6270-4ED0-9A1FF2C21B43}"/>
                </a:ext>
              </a:extLst>
            </p:cNvPr>
            <p:cNvSpPr/>
            <p:nvPr/>
          </p:nvSpPr>
          <p:spPr>
            <a:xfrm rot="5400000">
              <a:off x="1829993" y="2444927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86F674-B411-5A36-1773-14B2680FFBB9}"/>
              </a:ext>
            </a:extLst>
          </p:cNvPr>
          <p:cNvGrpSpPr/>
          <p:nvPr/>
        </p:nvGrpSpPr>
        <p:grpSpPr>
          <a:xfrm>
            <a:off x="5791205" y="4561750"/>
            <a:ext cx="1301965" cy="545979"/>
            <a:chOff x="1261925" y="2663404"/>
            <a:chExt cx="1301965" cy="54597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691837A-9C31-13BA-21AE-35FA6BF6455B}"/>
                </a:ext>
              </a:extLst>
            </p:cNvPr>
            <p:cNvSpPr txBox="1"/>
            <p:nvPr/>
          </p:nvSpPr>
          <p:spPr>
            <a:xfrm>
              <a:off x="1792472" y="2778642"/>
              <a:ext cx="771418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commit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6F390C-06E6-2257-DD89-155B0FF2C0E5}"/>
                </a:ext>
              </a:extLst>
            </p:cNvPr>
            <p:cNvSpPr txBox="1"/>
            <p:nvPr/>
          </p:nvSpPr>
          <p:spPr>
            <a:xfrm>
              <a:off x="1261925" y="2778643"/>
              <a:ext cx="538756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</a:t>
              </a:r>
            </a:p>
          </p:txBody>
        </p:sp>
        <p:sp>
          <p:nvSpPr>
            <p:cNvPr id="17" name="Curved Right Arrow 16">
              <a:extLst>
                <a:ext uri="{FF2B5EF4-FFF2-40B4-BE49-F238E27FC236}">
                  <a16:creationId xmlns:a16="http://schemas.microsoft.com/office/drawing/2014/main" id="{3DF32844-E96E-2CE0-C587-A0350709B589}"/>
                </a:ext>
              </a:extLst>
            </p:cNvPr>
            <p:cNvSpPr/>
            <p:nvPr/>
          </p:nvSpPr>
          <p:spPr>
            <a:xfrm rot="16200000">
              <a:off x="1846266" y="2841349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Curved Right Arrow 17">
              <a:extLst>
                <a:ext uri="{FF2B5EF4-FFF2-40B4-BE49-F238E27FC236}">
                  <a16:creationId xmlns:a16="http://schemas.microsoft.com/office/drawing/2014/main" id="{5986F00F-7E74-F5F4-1B1A-F62D3E714587}"/>
                </a:ext>
              </a:extLst>
            </p:cNvPr>
            <p:cNvSpPr/>
            <p:nvPr/>
          </p:nvSpPr>
          <p:spPr>
            <a:xfrm rot="5400000">
              <a:off x="1829993" y="2444927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A4EE3D8-B90F-421B-495F-D175E41095B9}"/>
              </a:ext>
            </a:extLst>
          </p:cNvPr>
          <p:cNvSpPr txBox="1"/>
          <p:nvPr/>
        </p:nvSpPr>
        <p:spPr>
          <a:xfrm>
            <a:off x="3214815" y="6182725"/>
            <a:ext cx="2680139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Local Repos (git)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2C5906-8738-A0D6-0A9A-BCF1F936EEFE}"/>
              </a:ext>
            </a:extLst>
          </p:cNvPr>
          <p:cNvSpPr/>
          <p:nvPr/>
        </p:nvSpPr>
        <p:spPr>
          <a:xfrm rot="18714292">
            <a:off x="2818336" y="3132880"/>
            <a:ext cx="1495283" cy="223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pull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056181-6E8A-9068-F1FC-8D9B118E8ED6}"/>
              </a:ext>
            </a:extLst>
          </p:cNvPr>
          <p:cNvSpPr/>
          <p:nvPr/>
        </p:nvSpPr>
        <p:spPr>
          <a:xfrm rot="18714292">
            <a:off x="2291766" y="3058689"/>
            <a:ext cx="2269103" cy="164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38E2B1-896B-49EE-4B01-7FF5D9F5830D}"/>
              </a:ext>
            </a:extLst>
          </p:cNvPr>
          <p:cNvSpPr/>
          <p:nvPr/>
        </p:nvSpPr>
        <p:spPr>
          <a:xfrm>
            <a:off x="5894954" y="4481565"/>
            <a:ext cx="1171401" cy="673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pull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150A79-2D85-71F8-0123-01257FC55FEE}"/>
              </a:ext>
            </a:extLst>
          </p:cNvPr>
          <p:cNvSpPr/>
          <p:nvPr/>
        </p:nvSpPr>
        <p:spPr>
          <a:xfrm rot="2720520" flipV="1">
            <a:off x="4927137" y="3043713"/>
            <a:ext cx="2269103" cy="249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0ED984-C160-0203-D1BF-D2DE00645116}"/>
              </a:ext>
            </a:extLst>
          </p:cNvPr>
          <p:cNvSpPr/>
          <p:nvPr/>
        </p:nvSpPr>
        <p:spPr>
          <a:xfrm rot="2720520" flipV="1">
            <a:off x="5352950" y="2937448"/>
            <a:ext cx="1756498" cy="249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7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17E898B-BC89-79C6-A173-4B9902EB9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9483" y="217023"/>
            <a:ext cx="6830804" cy="6423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AC8869-A944-EE31-7F73-5DABAC31BA5E}"/>
              </a:ext>
            </a:extLst>
          </p:cNvPr>
          <p:cNvSpPr txBox="1"/>
          <p:nvPr/>
        </p:nvSpPr>
        <p:spPr>
          <a:xfrm>
            <a:off x="3276277" y="333208"/>
            <a:ext cx="2405339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700" dirty="0"/>
              <a:t>Remote Repo (GitHub)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B48C8-1068-F927-A401-1DC9BEA032F1}"/>
              </a:ext>
            </a:extLst>
          </p:cNvPr>
          <p:cNvSpPr txBox="1"/>
          <p:nvPr/>
        </p:nvSpPr>
        <p:spPr>
          <a:xfrm rot="18854507">
            <a:off x="1900277" y="2923886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29CEC-7D05-E40C-C807-D7C39462AC6B}"/>
              </a:ext>
            </a:extLst>
          </p:cNvPr>
          <p:cNvSpPr txBox="1"/>
          <p:nvPr/>
        </p:nvSpPr>
        <p:spPr>
          <a:xfrm rot="2741084">
            <a:off x="4668829" y="316239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13E90-E449-91DE-180B-C7A5BA175FAF}"/>
              </a:ext>
            </a:extLst>
          </p:cNvPr>
          <p:cNvSpPr txBox="1"/>
          <p:nvPr/>
        </p:nvSpPr>
        <p:spPr>
          <a:xfrm rot="2601328">
            <a:off x="5444165" y="2946390"/>
            <a:ext cx="175533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push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B02C035-BC76-7534-9BE8-D9268ED65C14}"/>
              </a:ext>
            </a:extLst>
          </p:cNvPr>
          <p:cNvGrpSpPr/>
          <p:nvPr/>
        </p:nvGrpSpPr>
        <p:grpSpPr>
          <a:xfrm>
            <a:off x="1948777" y="4561326"/>
            <a:ext cx="1348049" cy="545979"/>
            <a:chOff x="1261925" y="2663404"/>
            <a:chExt cx="1348049" cy="5459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E9C8C5-14F1-D1F6-3334-98840D774A02}"/>
                </a:ext>
              </a:extLst>
            </p:cNvPr>
            <p:cNvSpPr txBox="1"/>
            <p:nvPr/>
          </p:nvSpPr>
          <p:spPr>
            <a:xfrm>
              <a:off x="1792471" y="2778642"/>
              <a:ext cx="817503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commit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BDAE8C-8DCF-7477-A0C4-AD897C5DDE5A}"/>
                </a:ext>
              </a:extLst>
            </p:cNvPr>
            <p:cNvSpPr txBox="1"/>
            <p:nvPr/>
          </p:nvSpPr>
          <p:spPr>
            <a:xfrm>
              <a:off x="1261925" y="2778643"/>
              <a:ext cx="538756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</a:t>
              </a:r>
            </a:p>
          </p:txBody>
        </p:sp>
        <p:sp>
          <p:nvSpPr>
            <p:cNvPr id="12" name="Curved Right Arrow 11">
              <a:extLst>
                <a:ext uri="{FF2B5EF4-FFF2-40B4-BE49-F238E27FC236}">
                  <a16:creationId xmlns:a16="http://schemas.microsoft.com/office/drawing/2014/main" id="{6FA7CE35-05B3-FD15-75E1-8A5802110964}"/>
                </a:ext>
              </a:extLst>
            </p:cNvPr>
            <p:cNvSpPr/>
            <p:nvPr/>
          </p:nvSpPr>
          <p:spPr>
            <a:xfrm rot="16200000">
              <a:off x="1846266" y="2841349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Curved Right Arrow 12">
              <a:extLst>
                <a:ext uri="{FF2B5EF4-FFF2-40B4-BE49-F238E27FC236}">
                  <a16:creationId xmlns:a16="http://schemas.microsoft.com/office/drawing/2014/main" id="{395DDFF1-32D4-0733-11CE-E0D70EB6F54A}"/>
                </a:ext>
              </a:extLst>
            </p:cNvPr>
            <p:cNvSpPr/>
            <p:nvPr/>
          </p:nvSpPr>
          <p:spPr>
            <a:xfrm rot="5400000">
              <a:off x="1829993" y="2444927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E39F03-51B4-B9F2-406B-3936D84BEE43}"/>
              </a:ext>
            </a:extLst>
          </p:cNvPr>
          <p:cNvGrpSpPr/>
          <p:nvPr/>
        </p:nvGrpSpPr>
        <p:grpSpPr>
          <a:xfrm>
            <a:off x="5791205" y="4561750"/>
            <a:ext cx="1301965" cy="545979"/>
            <a:chOff x="1261925" y="2663404"/>
            <a:chExt cx="1301965" cy="54597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CD8DF6F-B2EE-2867-D714-45B0A6D45238}"/>
                </a:ext>
              </a:extLst>
            </p:cNvPr>
            <p:cNvSpPr txBox="1"/>
            <p:nvPr/>
          </p:nvSpPr>
          <p:spPr>
            <a:xfrm>
              <a:off x="1792472" y="2778642"/>
              <a:ext cx="771418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commit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80CDA1-EC2E-62F5-E7A1-7F8FFF26CCEC}"/>
                </a:ext>
              </a:extLst>
            </p:cNvPr>
            <p:cNvSpPr txBox="1"/>
            <p:nvPr/>
          </p:nvSpPr>
          <p:spPr>
            <a:xfrm>
              <a:off x="1261925" y="2778643"/>
              <a:ext cx="538756" cy="3077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add</a:t>
              </a:r>
            </a:p>
          </p:txBody>
        </p:sp>
        <p:sp>
          <p:nvSpPr>
            <p:cNvPr id="17" name="Curved Right Arrow 16">
              <a:extLst>
                <a:ext uri="{FF2B5EF4-FFF2-40B4-BE49-F238E27FC236}">
                  <a16:creationId xmlns:a16="http://schemas.microsoft.com/office/drawing/2014/main" id="{763C1B5B-FEC3-C7D0-0269-FF6F8D68F8F8}"/>
                </a:ext>
              </a:extLst>
            </p:cNvPr>
            <p:cNvSpPr/>
            <p:nvPr/>
          </p:nvSpPr>
          <p:spPr>
            <a:xfrm rot="16200000">
              <a:off x="1846266" y="2841349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Curved Right Arrow 17">
              <a:extLst>
                <a:ext uri="{FF2B5EF4-FFF2-40B4-BE49-F238E27FC236}">
                  <a16:creationId xmlns:a16="http://schemas.microsoft.com/office/drawing/2014/main" id="{2AE1E707-2B0F-D44A-DDA8-5BBF98FBE89C}"/>
                </a:ext>
              </a:extLst>
            </p:cNvPr>
            <p:cNvSpPr/>
            <p:nvPr/>
          </p:nvSpPr>
          <p:spPr>
            <a:xfrm rot="5400000">
              <a:off x="1829993" y="2444927"/>
              <a:ext cx="149556" cy="586509"/>
            </a:xfrm>
            <a:prstGeom prst="curved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D4AF3A2-F3CF-6523-CE3D-9EF7067EAEC1}"/>
              </a:ext>
            </a:extLst>
          </p:cNvPr>
          <p:cNvSpPr/>
          <p:nvPr/>
        </p:nvSpPr>
        <p:spPr>
          <a:xfrm rot="18714292">
            <a:off x="2818336" y="3132880"/>
            <a:ext cx="1495283" cy="223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pull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D7966-264E-B566-1673-C31631E706CB}"/>
              </a:ext>
            </a:extLst>
          </p:cNvPr>
          <p:cNvSpPr txBox="1"/>
          <p:nvPr/>
        </p:nvSpPr>
        <p:spPr>
          <a:xfrm>
            <a:off x="3214815" y="6182725"/>
            <a:ext cx="2680139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Local Repos (git)</a:t>
            </a:r>
          </a:p>
        </p:txBody>
      </p:sp>
    </p:spTree>
    <p:extLst>
      <p:ext uri="{BB962C8B-B14F-4D97-AF65-F5344CB8AC3E}">
        <p14:creationId xmlns:p14="http://schemas.microsoft.com/office/powerpoint/2010/main" val="4064294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2582-E082-1C83-AA1D-4ADC2B4C5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200" dirty="0"/>
              <a:t>Introduce Ourselves to git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31AAD-9E69-7451-12C8-0BE9AF9D0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git who you are (and what your GitHub account is)</a:t>
            </a:r>
          </a:p>
        </p:txBody>
      </p:sp>
    </p:spTree>
    <p:extLst>
      <p:ext uri="{BB962C8B-B14F-4D97-AF65-F5344CB8AC3E}">
        <p14:creationId xmlns:p14="http://schemas.microsoft.com/office/powerpoint/2010/main" val="3785078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C7CDE7-38E3-87A1-D016-2453361F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anchor="ctr">
            <a:normAutofit/>
          </a:bodyPr>
          <a:lstStyle/>
          <a:p>
            <a:r>
              <a:rPr lang="en-US" sz="4500" dirty="0">
                <a:hlinkClick r:id="rId2"/>
              </a:rPr>
              <a:t>Chapter 7</a:t>
            </a:r>
            <a:r>
              <a:rPr lang="en-US" sz="4500" dirty="0"/>
              <a:t>: Introductions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EA92DF-CBD5-DFCA-C675-C82DD1C27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05" y="1845426"/>
            <a:ext cx="7479500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43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0C17C-DDEB-66A7-7F91-7F5590A0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98F2-6EF9-2E60-2D90-D2093BE4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git/GitHub and RStudio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1F995-5704-BDA3-F0B0-AC0357711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Control through RStudio Projects</a:t>
            </a:r>
          </a:p>
        </p:txBody>
      </p:sp>
    </p:spTree>
    <p:extLst>
      <p:ext uri="{BB962C8B-B14F-4D97-AF65-F5344CB8AC3E}">
        <p14:creationId xmlns:p14="http://schemas.microsoft.com/office/powerpoint/2010/main" val="2242177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23CA78-A4AF-854D-A7A0-B1505C654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Chapter 9</a:t>
            </a:r>
            <a:r>
              <a:rPr lang="en-US" dirty="0"/>
              <a:t>: PAT for HTTPS</a:t>
            </a:r>
          </a:p>
        </p:txBody>
      </p:sp>
      <p:pic>
        <p:nvPicPr>
          <p:cNvPr id="6" name="Picture 5" descr="A screenshot of a chat&#10;&#10;AI-generated content may be incorrect.">
            <a:extLst>
              <a:ext uri="{FF2B5EF4-FFF2-40B4-BE49-F238E27FC236}">
                <a16:creationId xmlns:a16="http://schemas.microsoft.com/office/drawing/2014/main" id="{16AB6E06-C18E-46E0-FEC5-AB08436CC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285" y="1690689"/>
            <a:ext cx="6401428" cy="2205234"/>
          </a:xfrm>
          <a:prstGeom prst="rect">
            <a:avLst/>
          </a:prstGeom>
        </p:spPr>
      </p:pic>
      <p:pic>
        <p:nvPicPr>
          <p:cNvPr id="8" name="Picture 7" descr="A screenshot of a chat&#10;&#10;AI-generated content may be incorrect.">
            <a:extLst>
              <a:ext uri="{FF2B5EF4-FFF2-40B4-BE49-F238E27FC236}">
                <a16:creationId xmlns:a16="http://schemas.microsoft.com/office/drawing/2014/main" id="{086E3516-3350-BCF7-8F16-DFD025BDC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616" y="4364454"/>
            <a:ext cx="6358765" cy="21284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8E7055-D72F-3ADB-71E5-E1305A2C297E}"/>
              </a:ext>
            </a:extLst>
          </p:cNvPr>
          <p:cNvSpPr txBox="1"/>
          <p:nvPr/>
        </p:nvSpPr>
        <p:spPr>
          <a:xfrm>
            <a:off x="5581702" y="2831586"/>
            <a:ext cx="2562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Select no expiration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24ECB-3175-E266-7477-5DD45EE684E4}"/>
              </a:ext>
            </a:extLst>
          </p:cNvPr>
          <p:cNvSpPr txBox="1"/>
          <p:nvPr/>
        </p:nvSpPr>
        <p:spPr>
          <a:xfrm>
            <a:off x="368281" y="1740288"/>
            <a:ext cx="100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F8697-FEE3-B4A4-706C-C344A3DD4F15}"/>
              </a:ext>
            </a:extLst>
          </p:cNvPr>
          <p:cNvSpPr txBox="1"/>
          <p:nvPr/>
        </p:nvSpPr>
        <p:spPr>
          <a:xfrm>
            <a:off x="368281" y="4364454"/>
            <a:ext cx="100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4019989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2C379-70A7-6FB0-C2E6-9B0A1D709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24431" cy="1325563"/>
          </a:xfrm>
        </p:spPr>
        <p:txBody>
          <a:bodyPr/>
          <a:lstStyle/>
          <a:p>
            <a:r>
              <a:rPr lang="en-US" dirty="0">
                <a:hlinkClick r:id="rId2"/>
              </a:rPr>
              <a:t>Chapter 11</a:t>
            </a:r>
            <a:r>
              <a:rPr lang="en-US" dirty="0"/>
              <a:t>: Connect everything!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6DFEC8-65C6-2FEA-F1E4-0EF73F45D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035" y="2517724"/>
            <a:ext cx="6255929" cy="387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CF9FC6-54B9-F256-DE6E-3C77B41012D6}"/>
              </a:ext>
            </a:extLst>
          </p:cNvPr>
          <p:cNvSpPr txBox="1"/>
          <p:nvPr/>
        </p:nvSpPr>
        <p:spPr>
          <a:xfrm>
            <a:off x="628649" y="1912058"/>
            <a:ext cx="7936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Clone the repository address (updated: green “Code” button)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EE366-2C85-AB96-F76E-3CE5452727A9}"/>
              </a:ext>
            </a:extLst>
          </p:cNvPr>
          <p:cNvSpPr txBox="1"/>
          <p:nvPr/>
        </p:nvSpPr>
        <p:spPr>
          <a:xfrm>
            <a:off x="0" y="6550223"/>
            <a:ext cx="7295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Images from: https://rstudio-conf-2020.github.io/r-for-excel/</a:t>
            </a:r>
            <a:r>
              <a:rPr lang="en-US" sz="1400" dirty="0" err="1">
                <a:solidFill>
                  <a:schemeClr val="bg2">
                    <a:lumMod val="90000"/>
                  </a:schemeClr>
                </a:solidFill>
              </a:rPr>
              <a:t>github.html#github</a:t>
            </a:r>
            <a:endParaRPr 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184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55561-D220-7ECA-BCAC-2BD972D44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BECD-0D45-3464-CDCE-CDB208D7A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24431" cy="1325563"/>
          </a:xfrm>
        </p:spPr>
        <p:txBody>
          <a:bodyPr/>
          <a:lstStyle/>
          <a:p>
            <a:r>
              <a:rPr lang="en-US" dirty="0">
                <a:hlinkClick r:id="rId2"/>
              </a:rPr>
              <a:t>Chapter 11</a:t>
            </a:r>
            <a:r>
              <a:rPr lang="en-US" dirty="0"/>
              <a:t>: Connect everything!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FD4AC5-5B21-5FCC-A29B-553844013DE8}"/>
              </a:ext>
            </a:extLst>
          </p:cNvPr>
          <p:cNvSpPr txBox="1"/>
          <p:nvPr/>
        </p:nvSpPr>
        <p:spPr>
          <a:xfrm>
            <a:off x="628649" y="1912058"/>
            <a:ext cx="710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Create a new RStudio Project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EB50501-B395-1F49-7FA6-04E871A04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430" y="2695488"/>
            <a:ext cx="6008867" cy="356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E41100-995F-A670-E74E-5EFE35AF3303}"/>
              </a:ext>
            </a:extLst>
          </p:cNvPr>
          <p:cNvSpPr txBox="1"/>
          <p:nvPr/>
        </p:nvSpPr>
        <p:spPr>
          <a:xfrm>
            <a:off x="0" y="6550223"/>
            <a:ext cx="7295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Images from: https://rstudio-conf-2020.github.io/r-for-excel/</a:t>
            </a:r>
            <a:r>
              <a:rPr lang="en-US" sz="1400" dirty="0" err="1">
                <a:solidFill>
                  <a:schemeClr val="bg2">
                    <a:lumMod val="90000"/>
                  </a:schemeClr>
                </a:solidFill>
              </a:rPr>
              <a:t>github.html#github</a:t>
            </a:r>
            <a:endParaRPr 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13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87B905B-11B7-0925-44FF-247CA050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23FC-82D5-6534-5A13-107CC912A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24431" cy="1325563"/>
          </a:xfrm>
        </p:spPr>
        <p:txBody>
          <a:bodyPr/>
          <a:lstStyle/>
          <a:p>
            <a:r>
              <a:rPr lang="en-US" dirty="0">
                <a:hlinkClick r:id="rId3"/>
              </a:rPr>
              <a:t>Chapter 11</a:t>
            </a:r>
            <a:r>
              <a:rPr lang="en-US" dirty="0"/>
              <a:t>: Connect everything!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7A37A-ECF3-11D2-273D-A3901B2EF4CE}"/>
              </a:ext>
            </a:extLst>
          </p:cNvPr>
          <p:cNvSpPr txBox="1"/>
          <p:nvPr/>
        </p:nvSpPr>
        <p:spPr>
          <a:xfrm>
            <a:off x="628649" y="1912058"/>
            <a:ext cx="710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STEPS 3 and 4: Select “Version Control”, then “Git”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FF26087-4776-53E8-DD4E-18CF3EE8A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62" y="2502759"/>
            <a:ext cx="3456633" cy="243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FFA5FBC-7C68-7FB1-2B23-CBC750C5E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505" y="4060028"/>
            <a:ext cx="3456633" cy="243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A64407-23AD-BC24-31C1-3718E27335FE}"/>
              </a:ext>
            </a:extLst>
          </p:cNvPr>
          <p:cNvSpPr txBox="1"/>
          <p:nvPr/>
        </p:nvSpPr>
        <p:spPr>
          <a:xfrm>
            <a:off x="0" y="6550223"/>
            <a:ext cx="7295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Images from: https://rstudio-conf-2020.github.io/r-for-excel/</a:t>
            </a:r>
            <a:r>
              <a:rPr lang="en-US" sz="1400" dirty="0" err="1">
                <a:solidFill>
                  <a:schemeClr val="bg2">
                    <a:lumMod val="90000"/>
                  </a:schemeClr>
                </a:solidFill>
              </a:rPr>
              <a:t>github.html#github</a:t>
            </a:r>
            <a:endParaRPr 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842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7341B-DDB9-3F1E-B5AC-3A3106D9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E813-C211-7400-4452-36BD022F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24431" cy="1325563"/>
          </a:xfrm>
        </p:spPr>
        <p:txBody>
          <a:bodyPr/>
          <a:lstStyle/>
          <a:p>
            <a:r>
              <a:rPr lang="en-US" dirty="0">
                <a:hlinkClick r:id="rId2"/>
              </a:rPr>
              <a:t>Chapter 11</a:t>
            </a:r>
            <a:r>
              <a:rPr lang="en-US" dirty="0"/>
              <a:t>: Connect everything!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8CC03-310D-8401-03A6-280652937391}"/>
              </a:ext>
            </a:extLst>
          </p:cNvPr>
          <p:cNvSpPr txBox="1"/>
          <p:nvPr/>
        </p:nvSpPr>
        <p:spPr>
          <a:xfrm>
            <a:off x="628649" y="1912058"/>
            <a:ext cx="710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5: Paste the repo address in “Repository URL”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D9B07A6-ADE2-6CCB-5626-F23129162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066" y="2502759"/>
            <a:ext cx="5375868" cy="3793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4C82A7-E6CD-91C4-34E7-EDEE97DBC1DB}"/>
              </a:ext>
            </a:extLst>
          </p:cNvPr>
          <p:cNvSpPr txBox="1"/>
          <p:nvPr/>
        </p:nvSpPr>
        <p:spPr>
          <a:xfrm>
            <a:off x="0" y="6550223"/>
            <a:ext cx="7295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Images from: https://rstudio-conf-2020.github.io/r-for-excel/</a:t>
            </a:r>
            <a:r>
              <a:rPr lang="en-US" sz="1400" dirty="0" err="1">
                <a:solidFill>
                  <a:schemeClr val="bg2">
                    <a:lumMod val="90000"/>
                  </a:schemeClr>
                </a:solidFill>
              </a:rPr>
              <a:t>github.html#github</a:t>
            </a:r>
            <a:endParaRPr 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212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95D2-E87B-CBD2-4817-E777C1D1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40" y="148857"/>
            <a:ext cx="7886700" cy="1325563"/>
          </a:xfrm>
        </p:spPr>
        <p:txBody>
          <a:bodyPr/>
          <a:lstStyle/>
          <a:p>
            <a:r>
              <a:rPr lang="en-US" dirty="0"/>
              <a:t>How to Commit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15660-9AB3-158E-141E-5229CF528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140" y="1180213"/>
            <a:ext cx="8686800" cy="552893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dirty="0"/>
              <a:t>1. </a:t>
            </a:r>
            <a:r>
              <a:rPr lang="en-US" u="sng" dirty="0"/>
              <a:t>Save </a:t>
            </a:r>
          </a:p>
          <a:p>
            <a:pPr lvl="1">
              <a:spcAft>
                <a:spcPts val="200"/>
              </a:spcAft>
            </a:pPr>
            <a:r>
              <a:rPr lang="en-US" sz="2100" dirty="0"/>
              <a:t>Save the changes in the file(s) you have been working on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dirty="0"/>
              <a:t>2. </a:t>
            </a:r>
            <a:r>
              <a:rPr lang="en-US" u="sng" dirty="0"/>
              <a:t>Add</a:t>
            </a:r>
          </a:p>
          <a:p>
            <a:pPr lvl="1">
              <a:spcAft>
                <a:spcPts val="200"/>
              </a:spcAft>
            </a:pPr>
            <a:r>
              <a:rPr lang="en-US" sz="2100" dirty="0"/>
              <a:t>Open the Commit window by clicking the “Commit” button in the Git tab.</a:t>
            </a:r>
          </a:p>
          <a:p>
            <a:pPr lvl="1">
              <a:spcAft>
                <a:spcPts val="200"/>
              </a:spcAft>
            </a:pPr>
            <a:r>
              <a:rPr lang="en-US" sz="2100" dirty="0"/>
              <a:t>Click the empty square next to the file to “stage” the file(s).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dirty="0"/>
              <a:t>3. </a:t>
            </a:r>
            <a:r>
              <a:rPr lang="en-US" u="sng" dirty="0"/>
              <a:t>Commit</a:t>
            </a:r>
          </a:p>
          <a:p>
            <a:pPr lvl="1">
              <a:spcAft>
                <a:spcPts val="200"/>
              </a:spcAft>
            </a:pPr>
            <a:r>
              <a:rPr lang="en-US" sz="2000" dirty="0"/>
              <a:t>Write a descriptive commit message, then click the “commit” button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dirty="0"/>
              <a:t>4. </a:t>
            </a:r>
            <a:r>
              <a:rPr lang="en-US" u="sng" dirty="0"/>
              <a:t>Pull</a:t>
            </a:r>
          </a:p>
          <a:p>
            <a:pPr lvl="1">
              <a:spcAft>
                <a:spcPts val="200"/>
              </a:spcAft>
            </a:pPr>
            <a:r>
              <a:rPr lang="en-US" sz="2000" dirty="0"/>
              <a:t>Click on the “Pull” button (blue arrow pointing down). This will bring down any changes from the remote repo on GitHub (in case a collaborator has made changes will you’ve been working or you forgot to pull before)</a:t>
            </a:r>
          </a:p>
          <a:p>
            <a:pPr lvl="1">
              <a:spcAft>
                <a:spcPts val="200"/>
              </a:spcAft>
            </a:pPr>
            <a:r>
              <a:rPr lang="en-US" sz="2000" dirty="0"/>
              <a:t>Fix any merge conflict that occur.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dirty="0"/>
              <a:t>5. </a:t>
            </a:r>
            <a:r>
              <a:rPr lang="en-US" u="sng" dirty="0"/>
              <a:t>Push</a:t>
            </a:r>
          </a:p>
          <a:p>
            <a:pPr lvl="1">
              <a:spcAft>
                <a:spcPts val="200"/>
              </a:spcAft>
            </a:pPr>
            <a:r>
              <a:rPr lang="en-US" sz="2000" dirty="0"/>
              <a:t>Click the “Push” button (green arrow pointing up) to send the changes to your local repo that you just committed up to the remote repo on GitHub</a:t>
            </a:r>
          </a:p>
        </p:txBody>
      </p:sp>
    </p:spTree>
    <p:extLst>
      <p:ext uri="{BB962C8B-B14F-4D97-AF65-F5344CB8AC3E}">
        <p14:creationId xmlns:p14="http://schemas.microsoft.com/office/powerpoint/2010/main" val="43671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8376A5D2-93B4-27DF-D138-E97E1CCFE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678878"/>
            <a:ext cx="8178799" cy="550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330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F72A2015-2D9E-F807-CE9C-9F236B315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1251394"/>
            <a:ext cx="8178799" cy="435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220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70099E0D-28F7-1637-FD20-4E47B5FA9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1149159"/>
            <a:ext cx="8178799" cy="455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052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5613CB7-2000-2C58-9F37-7CB1DC64B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1691005"/>
            <a:ext cx="8178799" cy="347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9407BD-8ADD-456C-5B81-C32442A4304E}"/>
              </a:ext>
            </a:extLst>
          </p:cNvPr>
          <p:cNvSpPr/>
          <p:nvPr/>
        </p:nvSpPr>
        <p:spPr>
          <a:xfrm>
            <a:off x="4051005" y="1095153"/>
            <a:ext cx="2164860" cy="70174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First, pull any commits from the remote repo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093FD7ED-EA68-64C9-1DAD-675A533DC28D}"/>
              </a:ext>
            </a:extLst>
          </p:cNvPr>
          <p:cNvSpPr/>
          <p:nvPr/>
        </p:nvSpPr>
        <p:spPr>
          <a:xfrm rot="5400000">
            <a:off x="5356419" y="2070721"/>
            <a:ext cx="701750" cy="15411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35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215A-A48C-002D-C1E0-0DD492BE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9C00E-0037-DAE1-5E0C-599940DB9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find </a:t>
            </a:r>
            <a:r>
              <a:rPr lang="en-US" dirty="0">
                <a:hlinkClick r:id="rId2"/>
              </a:rPr>
              <a:t>Happy Git with R</a:t>
            </a:r>
            <a:r>
              <a:rPr lang="en-US" dirty="0"/>
              <a:t> to be the most helpful resource.</a:t>
            </a:r>
          </a:p>
          <a:p>
            <a:r>
              <a:rPr lang="en-US" dirty="0"/>
              <a:t>The documentation on GitHub (</a:t>
            </a:r>
            <a:r>
              <a:rPr lang="en-US" dirty="0">
                <a:hlinkClick r:id="rId3"/>
              </a:rPr>
              <a:t>GitHub docs</a:t>
            </a:r>
            <a:r>
              <a:rPr lang="en-US" dirty="0"/>
              <a:t>) is also well done.</a:t>
            </a:r>
          </a:p>
          <a:p>
            <a:r>
              <a:rPr lang="en-US" dirty="0"/>
              <a:t>If in doubt</a:t>
            </a:r>
            <a:r>
              <a:rPr lang="en-US"/>
              <a:t>, Google or ask GenAI!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62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</TotalTime>
  <Words>614</Words>
  <Application>Microsoft Macintosh PowerPoint</Application>
  <PresentationFormat>On-screen Show (4:3)</PresentationFormat>
  <Paragraphs>105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Version Control</vt:lpstr>
      <vt:lpstr>PowerPoint Presentation</vt:lpstr>
      <vt:lpstr>What is version control?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Introduce Ourselves to git</vt:lpstr>
      <vt:lpstr>Chapter 7: Introductions</vt:lpstr>
      <vt:lpstr>git/GitHub and RStudio</vt:lpstr>
      <vt:lpstr>Chapter 9: PAT for HTTPS</vt:lpstr>
      <vt:lpstr>Chapter 11: Connect everything!</vt:lpstr>
      <vt:lpstr>Chapter 11: Connect everything!</vt:lpstr>
      <vt:lpstr>Chapter 11: Connect everything!</vt:lpstr>
      <vt:lpstr>Chapter 11: Connect everything!</vt:lpstr>
      <vt:lpstr>How to Commit Files</vt:lpstr>
      <vt:lpstr>PowerPoint Presentation</vt:lpstr>
      <vt:lpstr>PowerPoint Presentation</vt:lpstr>
      <vt:lpstr>PowerPoint Presentation</vt:lpstr>
      <vt:lpstr>PowerPoint Presentation</vt:lpstr>
      <vt:lpstr>Helpful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Control</dc:title>
  <dc:creator>Bledsoe, Ellen K - (ebledsoe)</dc:creator>
  <cp:lastModifiedBy>Bledsoe, Ellen - (ebledsoe)</cp:lastModifiedBy>
  <cp:revision>15</cp:revision>
  <dcterms:created xsi:type="dcterms:W3CDTF">2024-03-21T03:52:41Z</dcterms:created>
  <dcterms:modified xsi:type="dcterms:W3CDTF">2026-10-27T16:24:14Z</dcterms:modified>
</cp:coreProperties>
</file>